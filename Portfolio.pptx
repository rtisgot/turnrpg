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gameplay capture: TIDEGLASS - 潮鏡都市 2026-08-08 09-48-43.mp4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gameplay capture: field exploration frame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Original diagram created from implemented game systems in the local project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gameplay capture: field exploration frame</a:t>
            </a:r>
          </a:p>
          <a:p>
            <a:r>
              <a:t>- Local source implementation: D:/Turnsei/turnsei/turnsei/trnsei/trnsei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gameplay capture: battle frame</a:t>
            </a:r>
          </a:p>
          <a:p>
            <a:r>
              <a:t>- Local source implementation: battle flow, AP, resistance gauge, tutorial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gameplay capture: progression frame</a:t>
            </a:r>
          </a:p>
          <a:p>
            <a:r>
              <a:t>- Local source implementation: level scaling, score, item drop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project source and build configuration: D:/Turnsei/turnsei/turnsei/trnsei/trnsei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gameplay capture: later battle frame</a:t>
            </a:r>
          </a:p>
          <a:p>
            <a:r>
              <a:t>- Portfolio PV created from the submitted gameplay capture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AAAD-300E-44AF-9131-FCCFC4D4DD7F}" type="datetimeFigureOut">
              <a:rPr kumimoji="1" lang="ja-JP" altLang="en-US" smtClean="0"/>
              <a:t>2026/8/8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037AE-ECA3-49B8-954D-F3EC0DE962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62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252E69-3872-4D9A-A070-ABCEBB630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4897" y="1091483"/>
            <a:ext cx="5057103" cy="1989787"/>
          </a:xfrm>
        </p:spPr>
        <p:txBody>
          <a:bodyPr>
            <a:normAutofit fontScale="90000"/>
          </a:bodyPr>
          <a:lstStyle/>
          <a:p>
            <a:pPr algn="l"/>
            <a:r>
              <a:rPr kumimoji="1" lang="ja-JP" altLang="en-US" sz="2400" dirty="0"/>
              <a:t>名前　立原零央</a:t>
            </a:r>
            <a:br>
              <a:rPr kumimoji="1" lang="en-US" altLang="ja-JP" sz="2400" dirty="0"/>
            </a:br>
            <a:br>
              <a:rPr kumimoji="1" lang="en-US" altLang="ja-JP" sz="2400" dirty="0"/>
            </a:br>
            <a:r>
              <a:rPr kumimoji="1" lang="ja-JP" altLang="en-US" sz="2400" dirty="0"/>
              <a:t>学校　水戸情報</a:t>
            </a:r>
            <a:r>
              <a:rPr kumimoji="1" lang="en-US" altLang="ja-JP" sz="2400" dirty="0"/>
              <a:t>IT</a:t>
            </a:r>
            <a:r>
              <a:rPr kumimoji="1" lang="ja-JP" altLang="en-US" sz="2400" dirty="0"/>
              <a:t>クリエイター専門学校</a:t>
            </a:r>
            <a:br>
              <a:rPr kumimoji="1" lang="en-US" altLang="ja-JP" sz="2400" dirty="0"/>
            </a:br>
            <a:br>
              <a:rPr lang="en-US" altLang="ja-JP" sz="2400" dirty="0"/>
            </a:br>
            <a:r>
              <a:rPr kumimoji="1" lang="ja-JP" altLang="en-US" sz="2400" dirty="0"/>
              <a:t>趣味　絵</a:t>
            </a:r>
            <a:br>
              <a:rPr lang="en-US" altLang="ja-JP" sz="2400" dirty="0"/>
            </a:br>
            <a:r>
              <a:rPr lang="en-US" altLang="ja-JP" sz="2400" dirty="0"/>
              <a:t>          </a:t>
            </a:r>
            <a:r>
              <a:rPr kumimoji="1" lang="ja-JP" altLang="en-US" sz="2400" dirty="0"/>
              <a:t>サッカー</a:t>
            </a:r>
            <a:br>
              <a:rPr kumimoji="1" lang="en-US" altLang="ja-JP" sz="2400" dirty="0"/>
            </a:br>
            <a:endParaRPr kumimoji="1" lang="ja-JP" altLang="en-US" sz="2400" dirty="0"/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33ACB2FB-CB93-4C97-AEA3-C416A7D2F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0009" y="3251018"/>
            <a:ext cx="4610637" cy="3082098"/>
          </a:xfrm>
        </p:spPr>
        <p:txBody>
          <a:bodyPr>
            <a:normAutofit/>
          </a:bodyPr>
          <a:lstStyle/>
          <a:p>
            <a:pPr algn="l"/>
            <a:r>
              <a:rPr lang="ja-JP" altLang="en-US" sz="1800" b="1" dirty="0">
                <a:solidFill>
                  <a:schemeClr val="tx1"/>
                </a:solidFill>
              </a:rPr>
              <a:t>スキル  </a:t>
            </a:r>
            <a:r>
              <a:rPr lang="en-US" altLang="ja-JP" sz="1800" b="1" dirty="0">
                <a:solidFill>
                  <a:schemeClr val="tx1"/>
                </a:solidFill>
              </a:rPr>
              <a:t>C</a:t>
            </a:r>
            <a:r>
              <a:rPr lang="ja-JP" altLang="en-US" sz="1800" b="1" dirty="0">
                <a:solidFill>
                  <a:schemeClr val="tx1"/>
                </a:solidFill>
              </a:rPr>
              <a:t>言語                    </a:t>
            </a:r>
            <a:r>
              <a:rPr lang="en-US" altLang="ja-JP" sz="1800" b="1" dirty="0">
                <a:solidFill>
                  <a:schemeClr val="tx1"/>
                </a:solidFill>
              </a:rPr>
              <a:t>1</a:t>
            </a:r>
            <a:r>
              <a:rPr lang="ja-JP" altLang="en-US" sz="1800" b="1" dirty="0">
                <a:solidFill>
                  <a:schemeClr val="tx1"/>
                </a:solidFill>
              </a:rPr>
              <a:t>年</a:t>
            </a:r>
            <a:endParaRPr lang="en-US" altLang="ja-JP" sz="1800" b="1" dirty="0">
              <a:solidFill>
                <a:schemeClr val="tx1"/>
              </a:solidFill>
            </a:endParaRPr>
          </a:p>
          <a:p>
            <a:pPr algn="l"/>
            <a:r>
              <a:rPr lang="en-US" altLang="ja-JP" sz="1800" b="1" dirty="0">
                <a:solidFill>
                  <a:schemeClr val="tx1"/>
                </a:solidFill>
              </a:rPr>
              <a:t>              C++                 </a:t>
            </a:r>
            <a:r>
              <a:rPr lang="ja-JP" altLang="en-US" sz="1800" b="1" dirty="0">
                <a:solidFill>
                  <a:schemeClr val="tx1"/>
                </a:solidFill>
              </a:rPr>
              <a:t>　　</a:t>
            </a:r>
            <a:r>
              <a:rPr lang="en-US" altLang="ja-JP" sz="1800" b="1" dirty="0">
                <a:solidFill>
                  <a:schemeClr val="tx1"/>
                </a:solidFill>
              </a:rPr>
              <a:t> 1</a:t>
            </a:r>
            <a:r>
              <a:rPr lang="ja-JP" altLang="en-US" sz="1800" b="1" dirty="0">
                <a:solidFill>
                  <a:schemeClr val="tx1"/>
                </a:solidFill>
              </a:rPr>
              <a:t>年</a:t>
            </a:r>
            <a:endParaRPr lang="en-US" altLang="ja-JP" sz="1800" b="1" dirty="0">
              <a:solidFill>
                <a:schemeClr val="tx1"/>
              </a:solidFill>
            </a:endParaRPr>
          </a:p>
          <a:p>
            <a:pPr algn="l"/>
            <a:r>
              <a:rPr lang="en-US" altLang="ja-JP" sz="1800" b="1" dirty="0">
                <a:solidFill>
                  <a:schemeClr val="tx1"/>
                </a:solidFill>
              </a:rPr>
              <a:t>              C#                     </a:t>
            </a:r>
            <a:r>
              <a:rPr lang="ja-JP" altLang="en-US" sz="1800" b="1" dirty="0">
                <a:solidFill>
                  <a:schemeClr val="tx1"/>
                </a:solidFill>
              </a:rPr>
              <a:t>　 </a:t>
            </a:r>
            <a:r>
              <a:rPr lang="en-US" altLang="ja-JP" sz="1800" b="1" dirty="0">
                <a:solidFill>
                  <a:schemeClr val="tx1"/>
                </a:solidFill>
              </a:rPr>
              <a:t> 1</a:t>
            </a:r>
            <a:r>
              <a:rPr lang="ja-JP" altLang="en-US" sz="1800" b="1" dirty="0">
                <a:solidFill>
                  <a:schemeClr val="tx1"/>
                </a:solidFill>
              </a:rPr>
              <a:t>年</a:t>
            </a:r>
            <a:endParaRPr lang="en-US" altLang="ja-JP" sz="1800" b="1" dirty="0">
              <a:solidFill>
                <a:schemeClr val="tx1"/>
              </a:solidFill>
            </a:endParaRPr>
          </a:p>
          <a:p>
            <a:pPr algn="l"/>
            <a:r>
              <a:rPr lang="ja-JP" altLang="en-US" sz="1800" b="1" dirty="0">
                <a:solidFill>
                  <a:schemeClr val="tx1"/>
                </a:solidFill>
              </a:rPr>
              <a:t>　　　    　</a:t>
            </a:r>
            <a:r>
              <a:rPr lang="en-US" altLang="ja-JP" sz="1800" b="1" dirty="0">
                <a:solidFill>
                  <a:schemeClr val="tx1"/>
                </a:solidFill>
              </a:rPr>
              <a:t>Unity                 </a:t>
            </a:r>
            <a:r>
              <a:rPr lang="ja-JP" altLang="en-US" sz="1800" b="1" dirty="0">
                <a:solidFill>
                  <a:schemeClr val="tx1"/>
                </a:solidFill>
              </a:rPr>
              <a:t>　 </a:t>
            </a:r>
            <a:r>
              <a:rPr lang="en-US" altLang="ja-JP" sz="1800" b="1" dirty="0">
                <a:solidFill>
                  <a:schemeClr val="tx1"/>
                </a:solidFill>
              </a:rPr>
              <a:t>2</a:t>
            </a:r>
            <a:r>
              <a:rPr lang="ja-JP" altLang="en-US" sz="1800" b="1" dirty="0">
                <a:solidFill>
                  <a:schemeClr val="tx1"/>
                </a:solidFill>
              </a:rPr>
              <a:t>ヶ月</a:t>
            </a:r>
            <a:endParaRPr lang="en-US" altLang="ja-JP" sz="1800" b="1" dirty="0">
              <a:solidFill>
                <a:schemeClr val="tx1"/>
              </a:solidFill>
            </a:endParaRPr>
          </a:p>
          <a:p>
            <a:pPr algn="l"/>
            <a:r>
              <a:rPr lang="en-US" altLang="ja-JP" sz="1800" b="1" dirty="0">
                <a:solidFill>
                  <a:schemeClr val="tx1"/>
                </a:solidFill>
              </a:rPr>
              <a:t>              </a:t>
            </a:r>
            <a:r>
              <a:rPr lang="en-US" altLang="ja-JP" sz="1800" b="1" dirty="0" err="1">
                <a:solidFill>
                  <a:schemeClr val="tx1"/>
                </a:solidFill>
              </a:rPr>
              <a:t>UnrealEngine</a:t>
            </a:r>
            <a:r>
              <a:rPr lang="en-US" altLang="ja-JP" sz="1800" b="1" dirty="0">
                <a:solidFill>
                  <a:schemeClr val="tx1"/>
                </a:solidFill>
              </a:rPr>
              <a:t>     3</a:t>
            </a:r>
            <a:r>
              <a:rPr lang="ja-JP" altLang="en-US" sz="1800" b="1" dirty="0">
                <a:solidFill>
                  <a:schemeClr val="tx1"/>
                </a:solidFill>
              </a:rPr>
              <a:t>ヶ月</a:t>
            </a:r>
            <a:endParaRPr lang="en-US" altLang="ja-JP" sz="1800" b="1" dirty="0">
              <a:solidFill>
                <a:schemeClr val="tx1"/>
              </a:solidFill>
            </a:endParaRPr>
          </a:p>
          <a:p>
            <a:pPr algn="l"/>
            <a:r>
              <a:rPr lang="en-US" altLang="ja-JP" sz="1800" b="1" dirty="0">
                <a:solidFill>
                  <a:schemeClr val="tx1"/>
                </a:solidFill>
              </a:rPr>
              <a:t>              </a:t>
            </a:r>
            <a:r>
              <a:rPr lang="en-US" altLang="ja-JP" sz="1800" b="1" dirty="0" err="1">
                <a:solidFill>
                  <a:schemeClr val="tx1"/>
                </a:solidFill>
              </a:rPr>
              <a:t>Dxlib</a:t>
            </a:r>
            <a:r>
              <a:rPr lang="en-US" altLang="ja-JP" sz="1800" b="1" dirty="0">
                <a:solidFill>
                  <a:schemeClr val="tx1"/>
                </a:solidFill>
              </a:rPr>
              <a:t>                     1</a:t>
            </a:r>
            <a:r>
              <a:rPr lang="ja-JP" altLang="en-US" sz="1800" b="1" dirty="0">
                <a:solidFill>
                  <a:schemeClr val="tx1"/>
                </a:solidFill>
              </a:rPr>
              <a:t>年</a:t>
            </a:r>
            <a:endParaRPr lang="en-US" altLang="ja-JP" sz="1800" b="1" dirty="0">
              <a:solidFill>
                <a:schemeClr val="tx1"/>
              </a:solidFill>
            </a:endParaRPr>
          </a:p>
          <a:p>
            <a:pPr algn="l"/>
            <a:r>
              <a:rPr lang="ja-JP" altLang="en-US" sz="1800" b="1" dirty="0">
                <a:solidFill>
                  <a:schemeClr val="tx1"/>
                </a:solidFill>
              </a:rPr>
              <a:t>　　　</a:t>
            </a:r>
            <a:r>
              <a:rPr lang="en-US" altLang="ja-JP" sz="1800" b="1" dirty="0">
                <a:solidFill>
                  <a:schemeClr val="tx1"/>
                </a:solidFill>
              </a:rPr>
              <a:t>Blender                 3</a:t>
            </a:r>
            <a:r>
              <a:rPr lang="ja-JP" altLang="en-US" sz="1800" b="1" dirty="0">
                <a:solidFill>
                  <a:schemeClr val="tx1"/>
                </a:solidFill>
              </a:rPr>
              <a:t>ヶ月</a:t>
            </a:r>
            <a:endParaRPr lang="en-US" altLang="ja-JP" sz="1800" b="1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F689F61E-D72B-4587-930E-D194A3775227}"/>
              </a:ext>
            </a:extLst>
          </p:cNvPr>
          <p:cNvSpPr/>
          <p:nvPr/>
        </p:nvSpPr>
        <p:spPr>
          <a:xfrm>
            <a:off x="2210874" y="4343330"/>
            <a:ext cx="4868214" cy="1989786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B14FA3-40CF-48C7-A3E7-38F1255DB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216" y="4752467"/>
            <a:ext cx="1043532" cy="11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0C47F9-A9BF-4E0F-B397-3B108EE8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612" y="4752466"/>
            <a:ext cx="1043533" cy="1171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F123808-BFE2-4793-900F-6C48E403C1B6}"/>
              </a:ext>
            </a:extLst>
          </p:cNvPr>
          <p:cNvSpPr/>
          <p:nvPr/>
        </p:nvSpPr>
        <p:spPr>
          <a:xfrm>
            <a:off x="0" y="0"/>
            <a:ext cx="8062175" cy="9217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楽しさを伝えられる</a:t>
            </a:r>
            <a:r>
              <a:rPr kumimoji="1" lang="ja-JP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プログラマー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3EA8147-15D1-41F7-8E03-04877C0F67BA}"/>
              </a:ext>
            </a:extLst>
          </p:cNvPr>
          <p:cNvCxnSpPr>
            <a:cxnSpLocks/>
          </p:cNvCxnSpPr>
          <p:nvPr/>
        </p:nvCxnSpPr>
        <p:spPr>
          <a:xfrm>
            <a:off x="216888" y="921735"/>
            <a:ext cx="693312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03D5E2A-3635-45E9-BD17-72A86F84FF44}"/>
              </a:ext>
            </a:extLst>
          </p:cNvPr>
          <p:cNvCxnSpPr>
            <a:cxnSpLocks/>
          </p:cNvCxnSpPr>
          <p:nvPr/>
        </p:nvCxnSpPr>
        <p:spPr>
          <a:xfrm>
            <a:off x="6785113" y="2941983"/>
            <a:ext cx="5115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37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13361C9-D0E5-4CE6-9ADF-D8394BA08A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667"/>
            </a:avLst>
          </a:prstGeom>
          <a:solidFill>
            <a:srgbClr val="173D49"/>
          </a:solidFill>
          <a:ln w="9525">
            <a:solidFill>
              <a:srgbClr val="55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3"/>
          <a:srcRect l="926" r="92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1667"/>
            </a:avLst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3933887-1B24-485F-88FD-081997B622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2CE6296-A0EA-4AE1-B70E-555B1360DA6D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723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49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95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TIDEGLASS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E2A9244-7BBB-4529-8798-67E4EBB5B8F1}"/>
              </a:ext>
            </a:extLst>
          </p:cNvPr>
          <p:cNvSpPr>
            <a:spLocks noGrp="1"/>
          </p:cNvSpPr>
          <p:nvPr/>
        </p:nvSpPr>
        <p:spPr>
          <a:xfrm>
            <a:off x="552450" y="3019425"/>
            <a:ext cx="495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潮鏡都市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EA98E03-749C-42A1-91A5-3A7DE455F46C}"/>
              </a:ext>
            </a:extLst>
          </p:cNvPr>
          <p:cNvSpPr>
            <a:spLocks noGrp="1"/>
          </p:cNvSpPr>
          <p:nvPr/>
        </p:nvSpPr>
        <p:spPr>
          <a:xfrm>
            <a:off x="552450" y="3943350"/>
            <a:ext cx="5810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0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650" b="0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水没都市を探索し、無限に強くなる敵へ挑む</a:t>
            </a:r>
            <a:endParaRPr sz="1650" b="0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  <a:p>
            <a:pPr algn="l">
              <a:defRPr sz="1650" b="0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650" b="0" dirty="0">
                <a:solidFill>
                  <a:srgbClr val="EAF8F7"/>
                </a:solidFill>
                <a:latin typeface="Meiryo"/>
                <a:ea typeface="Meiryo"/>
                <a:cs typeface="Meiryo"/>
              </a:rPr>
              <a:t>3D探索 × </a:t>
            </a:r>
            <a:r>
              <a:rPr sz="1650" b="0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ターン制RPG</a:t>
            </a:r>
            <a:endParaRPr sz="1650" b="0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85D7176-EF11-40F1-8B61-2DB68E6AE55B}"/>
              </a:ext>
            </a:extLst>
          </p:cNvPr>
          <p:cNvSpPr>
            <a:spLocks noGrp="1"/>
          </p:cNvSpPr>
          <p:nvPr/>
        </p:nvSpPr>
        <p:spPr>
          <a:xfrm>
            <a:off x="514350" y="5638800"/>
            <a:ext cx="4095750" cy="590550"/>
          </a:xfrm>
          <a:prstGeom prst="roundRect">
            <a:avLst>
              <a:gd name="adj" fmla="val 19355"/>
            </a:avLst>
          </a:prstGeom>
          <a:solidFill>
            <a:srgbClr val="0B253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1345DA5-4C07-41A1-A1A9-1706F67560ED}"/>
              </a:ext>
            </a:extLst>
          </p:cNvPr>
          <p:cNvSpPr>
            <a:spLocks noGrp="1"/>
          </p:cNvSpPr>
          <p:nvPr/>
        </p:nvSpPr>
        <p:spPr>
          <a:xfrm>
            <a:off x="723900" y="57435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350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個人制作</a:t>
            </a:r>
            <a:r>
              <a:rPr sz="1350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　｜　</a:t>
            </a:r>
            <a:r>
              <a:rPr sz="1350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制作者名</a:t>
            </a:r>
            <a:r>
              <a:rPr sz="1350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：</a:t>
            </a:r>
            <a:r>
              <a:rPr lang="ja-JP" altLang="en-US" sz="1350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立原　零央</a:t>
            </a:r>
            <a:endParaRPr sz="1350" b="0" dirty="0">
              <a:solidFill>
                <a:srgbClr val="A8C9CD"/>
              </a:solidFill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58153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8D85377-5A88-44DE-9258-350E31E322D6}"/>
              </a:ext>
            </a:extLst>
          </p:cNvPr>
          <p:cNvSpPr>
            <a:spLocks noGrp="1"/>
          </p:cNvSpPr>
          <p:nvPr/>
        </p:nvSpPr>
        <p:spPr>
          <a:xfrm>
            <a:off x="457200" y="542925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255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作品概要</a:t>
            </a:r>
            <a:endParaRPr sz="2550" b="1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34F717-D052-48F2-BFEF-00A4601A345A}"/>
              </a:ext>
            </a:extLst>
          </p:cNvPr>
          <p:cNvSpPr>
            <a:spLocks noGrp="1"/>
          </p:cNvSpPr>
          <p:nvPr/>
        </p:nvSpPr>
        <p:spPr>
          <a:xfrm>
            <a:off x="11239500" y="342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1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880D979-E253-442E-9C5B-8A6B44A7DA73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55D6C5"/>
          </a:solidFill>
          <a:ln w="0">
            <a:solidFill>
              <a:srgbClr val="55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DD1F5FF-F784-4FFD-BF77-1FDCD37B47AD}"/>
              </a:ext>
            </a:extLst>
          </p:cNvPr>
          <p:cNvSpPr>
            <a:spLocks noGrp="1"/>
          </p:cNvSpPr>
          <p:nvPr/>
        </p:nvSpPr>
        <p:spPr>
          <a:xfrm>
            <a:off x="495300" y="14859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F4C95D"/>
                </a:solidFill>
                <a:latin typeface="Meiryo"/>
                <a:ea typeface="Meiryo"/>
                <a:cs typeface="Meiryo"/>
              </a:defRPr>
            </a:pPr>
            <a:r>
              <a:rPr lang="ja-JP" altLang="en-US" sz="975" b="1" dirty="0">
                <a:solidFill>
                  <a:srgbClr val="F4C95D"/>
                </a:solidFill>
                <a:latin typeface="Meiryo"/>
                <a:ea typeface="Meiryo"/>
                <a:cs typeface="Meiryo"/>
              </a:rPr>
              <a:t>概要</a:t>
            </a:r>
            <a:endParaRPr sz="975" b="1" dirty="0">
              <a:solidFill>
                <a:srgbClr val="F4C95D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DD96FC4-5964-46CB-A3A7-97F74EC499E8}"/>
              </a:ext>
            </a:extLst>
          </p:cNvPr>
          <p:cNvSpPr>
            <a:spLocks noGrp="1"/>
          </p:cNvSpPr>
          <p:nvPr/>
        </p:nvSpPr>
        <p:spPr>
          <a:xfrm>
            <a:off x="495300" y="1847850"/>
            <a:ext cx="4476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225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潮に沈んだ都市で</a:t>
            </a:r>
            <a:r>
              <a:rPr sz="2250" b="1" dirty="0">
                <a:solidFill>
                  <a:srgbClr val="EAF8F7"/>
                </a:solidFill>
                <a:latin typeface="Meiryo"/>
                <a:ea typeface="Meiryo"/>
                <a:cs typeface="Meiryo"/>
              </a:rPr>
              <a:t>、</a:t>
            </a:r>
          </a:p>
          <a:p>
            <a:pPr algn="l">
              <a:defRPr sz="22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225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次の一手を選び続ける</a:t>
            </a:r>
            <a:r>
              <a:rPr sz="2250" b="1" dirty="0">
                <a:solidFill>
                  <a:srgbClr val="EAF8F7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00F0BA6-A4DE-4D05-BB87-3E3F5FC55117}"/>
              </a:ext>
            </a:extLst>
          </p:cNvPr>
          <p:cNvSpPr>
            <a:spLocks noGrp="1"/>
          </p:cNvSpPr>
          <p:nvPr/>
        </p:nvSpPr>
        <p:spPr>
          <a:xfrm>
            <a:off x="495300" y="3009900"/>
            <a:ext cx="4476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350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三人称視点で都市を探索し、敵との接触でコマンド戦闘へ移行。勝利による経験値・アイテム・スコアが、次の戦いへの準備になる</a:t>
            </a:r>
            <a:r>
              <a:rPr sz="1350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5238C08-62AD-4A6F-A63D-96E38347E512}"/>
              </a:ext>
            </a:extLst>
          </p:cNvPr>
          <p:cNvSpPr>
            <a:spLocks noGrp="1"/>
          </p:cNvSpPr>
          <p:nvPr/>
        </p:nvSpPr>
        <p:spPr>
          <a:xfrm>
            <a:off x="495300" y="4514850"/>
            <a:ext cx="2095500" cy="1066800"/>
          </a:xfrm>
          <a:prstGeom prst="roundRect">
            <a:avLst>
              <a:gd name="adj" fmla="val 10714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777BCD7-05F6-4A29-9B25-61EAD6A27E8A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ジャンル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DB79FAE-A47F-424F-BD6A-5ADF7FB824E7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3D探索型ターン制RPG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8EF52DA-EFF6-4E2F-896A-71404FEFFB36}"/>
              </a:ext>
            </a:extLst>
          </p:cNvPr>
          <p:cNvSpPr>
            <a:spLocks noGrp="1"/>
          </p:cNvSpPr>
          <p:nvPr/>
        </p:nvSpPr>
        <p:spPr>
          <a:xfrm>
            <a:off x="2743200" y="4514850"/>
            <a:ext cx="2095500" cy="1066800"/>
          </a:xfrm>
          <a:prstGeom prst="roundRect">
            <a:avLst>
              <a:gd name="adj" fmla="val 10714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EFF84EE-0F1E-49B7-B33C-C34CD2D738B3}"/>
              </a:ext>
            </a:extLst>
          </p:cNvPr>
          <p:cNvSpPr>
            <a:spLocks noGrp="1"/>
          </p:cNvSpPr>
          <p:nvPr/>
        </p:nvSpPr>
        <p:spPr>
          <a:xfrm>
            <a:off x="2933700" y="46482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4C95D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F4C95D"/>
                </a:solidFill>
                <a:latin typeface="Meiryo"/>
                <a:ea typeface="Meiryo"/>
                <a:cs typeface="Meiryo"/>
              </a:rPr>
              <a:t>制作形態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FDE7B62-521C-4F6A-AF58-B579E206CF50}"/>
              </a:ext>
            </a:extLst>
          </p:cNvPr>
          <p:cNvSpPr>
            <a:spLocks noGrp="1"/>
          </p:cNvSpPr>
          <p:nvPr/>
        </p:nvSpPr>
        <p:spPr>
          <a:xfrm>
            <a:off x="2933700" y="49911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個人制作 / Windows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4FF34439-E901-4DAD-AB0F-C6771598D4B4}"/>
              </a:ext>
            </a:extLst>
          </p:cNvPr>
          <p:cNvSpPr>
            <a:spLocks noGrp="1"/>
          </p:cNvSpPr>
          <p:nvPr/>
        </p:nvSpPr>
        <p:spPr>
          <a:xfrm>
            <a:off x="5353050" y="1466850"/>
            <a:ext cx="6400800" cy="4191000"/>
          </a:xfrm>
          <a:prstGeom prst="roundRect">
            <a:avLst>
              <a:gd name="adj" fmla="val 2727"/>
            </a:avLst>
          </a:prstGeom>
          <a:solidFill>
            <a:srgbClr val="173D49"/>
          </a:solidFill>
          <a:ln w="9525">
            <a:solidFill>
              <a:srgbClr val="55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0" name="図 29"/>
          <p:cNvPicPr>
            <a:picLocks noChangeAspect="1"/>
          </p:cNvPicPr>
          <p:nvPr/>
        </p:nvPicPr>
        <p:blipFill>
          <a:blip r:embed="rId3"/>
          <a:srcRect l="7571" r="7571"/>
          <a:stretch>
            <a:fillRect/>
          </a:stretch>
        </p:blipFill>
        <p:spPr>
          <a:xfrm>
            <a:off x="5391150" y="1504950"/>
            <a:ext cx="6324600" cy="4114800"/>
          </a:xfrm>
          <a:prstGeom prst="roundRect">
            <a:avLst>
              <a:gd name="adj" fmla="val 2778"/>
            </a:avLst>
          </a:prstGeom>
        </p:spPr>
      </p:pic>
    </p:spTree>
    <p:extLst>
      <p:ext uri="{BB962C8B-B14F-4D97-AF65-F5344CB8AC3E}">
        <p14:creationId xmlns:p14="http://schemas.microsoft.com/office/powerpoint/2010/main" val="163189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8F0B013-F8D3-4435-B50A-423A70D2F3F0}"/>
              </a:ext>
            </a:extLst>
          </p:cNvPr>
          <p:cNvSpPr>
            <a:spLocks noGrp="1"/>
          </p:cNvSpPr>
          <p:nvPr/>
        </p:nvSpPr>
        <p:spPr>
          <a:xfrm>
            <a:off x="457200" y="542925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255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ゲーム体験のループ</a:t>
            </a:r>
            <a:endParaRPr sz="2550" b="1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D51DCA9-BAF9-437B-9F88-5169AEE2AF8E}"/>
              </a:ext>
            </a:extLst>
          </p:cNvPr>
          <p:cNvSpPr>
            <a:spLocks noGrp="1"/>
          </p:cNvSpPr>
          <p:nvPr/>
        </p:nvSpPr>
        <p:spPr>
          <a:xfrm>
            <a:off x="11239500" y="342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1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D0F9026-85A6-4381-B44E-2F1ED5ADA391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55D6C5"/>
          </a:solidFill>
          <a:ln w="0">
            <a:solidFill>
              <a:srgbClr val="55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B79A3DF-0D53-4A86-B080-C84808BFD40C}"/>
              </a:ext>
            </a:extLst>
          </p:cNvPr>
          <p:cNvSpPr>
            <a:spLocks noGrp="1"/>
          </p:cNvSpPr>
          <p:nvPr/>
        </p:nvSpPr>
        <p:spPr>
          <a:xfrm>
            <a:off x="514350" y="2057400"/>
            <a:ext cx="1752600" cy="2381250"/>
          </a:xfrm>
          <a:prstGeom prst="roundRect">
            <a:avLst>
              <a:gd name="adj" fmla="val 6522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1729A1B-BE67-4FB4-95E5-8A04FDC23A17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90BA89-E3C5-4612-8DAE-6E95AA4F4767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409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探索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41B81FD-D14F-4396-A6D7-B00A9913F4D3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409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水没都市を歩き</a:t>
            </a:r>
          </a:p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NPCと目的を確認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E325BEE-298C-4559-B9A3-4395B0750F4C}"/>
              </a:ext>
            </a:extLst>
          </p:cNvPr>
          <p:cNvSpPr>
            <a:spLocks noGrp="1"/>
          </p:cNvSpPr>
          <p:nvPr/>
        </p:nvSpPr>
        <p:spPr>
          <a:xfrm>
            <a:off x="2400300" y="2886075"/>
            <a:ext cx="28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1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›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EC523DE-FE1D-40D4-B0EC-C0B61F5EC8E5}"/>
              </a:ext>
            </a:extLst>
          </p:cNvPr>
          <p:cNvSpPr>
            <a:spLocks noGrp="1"/>
          </p:cNvSpPr>
          <p:nvPr/>
        </p:nvSpPr>
        <p:spPr>
          <a:xfrm>
            <a:off x="2876550" y="2057400"/>
            <a:ext cx="1752600" cy="2381250"/>
          </a:xfrm>
          <a:prstGeom prst="roundRect">
            <a:avLst>
              <a:gd name="adj" fmla="val 6522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9AD9DC0-4715-4F95-9F22-B3D2FA0D74CE}"/>
              </a:ext>
            </a:extLst>
          </p:cNvPr>
          <p:cNvSpPr>
            <a:spLocks noGrp="1"/>
          </p:cNvSpPr>
          <p:nvPr/>
        </p:nvSpPr>
        <p:spPr>
          <a:xfrm>
            <a:off x="3048000" y="22098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9F2763D-6414-4CBE-931C-62823D80969E}"/>
              </a:ext>
            </a:extLst>
          </p:cNvPr>
          <p:cNvSpPr>
            <a:spLocks noGrp="1"/>
          </p:cNvSpPr>
          <p:nvPr/>
        </p:nvSpPr>
        <p:spPr>
          <a:xfrm>
            <a:off x="3048000" y="2724150"/>
            <a:ext cx="1409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遭遇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E1373C5-B4F0-4046-B4B1-BD38422C7CFE}"/>
              </a:ext>
            </a:extLst>
          </p:cNvPr>
          <p:cNvSpPr>
            <a:spLocks noGrp="1"/>
          </p:cNvSpPr>
          <p:nvPr/>
        </p:nvSpPr>
        <p:spPr>
          <a:xfrm>
            <a:off x="3048000" y="3505200"/>
            <a:ext cx="1409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フィールド上の</a:t>
            </a:r>
          </a:p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敵モデルに接触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DDDF901-E47C-490C-8968-8303302D7FC7}"/>
              </a:ext>
            </a:extLst>
          </p:cNvPr>
          <p:cNvSpPr>
            <a:spLocks noGrp="1"/>
          </p:cNvSpPr>
          <p:nvPr/>
        </p:nvSpPr>
        <p:spPr>
          <a:xfrm>
            <a:off x="4762500" y="2886075"/>
            <a:ext cx="28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1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›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CB6ECF2-AB9D-4572-BBAB-0ADCD3791D0A}"/>
              </a:ext>
            </a:extLst>
          </p:cNvPr>
          <p:cNvSpPr>
            <a:spLocks noGrp="1"/>
          </p:cNvSpPr>
          <p:nvPr/>
        </p:nvSpPr>
        <p:spPr>
          <a:xfrm>
            <a:off x="5238750" y="2057400"/>
            <a:ext cx="1752600" cy="2381250"/>
          </a:xfrm>
          <a:prstGeom prst="roundRect">
            <a:avLst>
              <a:gd name="adj" fmla="val 6522"/>
            </a:avLst>
          </a:prstGeom>
          <a:solidFill>
            <a:srgbClr val="173D49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753753-0221-4096-9E6F-39877BD47D28}"/>
              </a:ext>
            </a:extLst>
          </p:cNvPr>
          <p:cNvSpPr>
            <a:spLocks noGrp="1"/>
          </p:cNvSpPr>
          <p:nvPr/>
        </p:nvSpPr>
        <p:spPr>
          <a:xfrm>
            <a:off x="5410200" y="22098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F4C95D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F4C95D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DE2138F-1CE3-496B-B1E3-6859E7724606}"/>
              </a:ext>
            </a:extLst>
          </p:cNvPr>
          <p:cNvSpPr>
            <a:spLocks noGrp="1"/>
          </p:cNvSpPr>
          <p:nvPr/>
        </p:nvSpPr>
        <p:spPr>
          <a:xfrm>
            <a:off x="5410200" y="2724150"/>
            <a:ext cx="1409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コマンド戦闘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3F31EDA-1A2C-45EA-B3F7-498120F7EFA4}"/>
              </a:ext>
            </a:extLst>
          </p:cNvPr>
          <p:cNvSpPr>
            <a:spLocks noGrp="1"/>
          </p:cNvSpPr>
          <p:nvPr/>
        </p:nvSpPr>
        <p:spPr>
          <a:xfrm>
            <a:off x="5410200" y="3505200"/>
            <a:ext cx="1409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AP・耐性・行動順を</a:t>
            </a:r>
          </a:p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見て攻撃を選択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8D972B4-D9E2-4F06-820C-98E164D15981}"/>
              </a:ext>
            </a:extLst>
          </p:cNvPr>
          <p:cNvSpPr>
            <a:spLocks noGrp="1"/>
          </p:cNvSpPr>
          <p:nvPr/>
        </p:nvSpPr>
        <p:spPr>
          <a:xfrm>
            <a:off x="7124700" y="2886075"/>
            <a:ext cx="28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1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›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B20A7A74-CA8E-4D8D-A898-8FD96240BD38}"/>
              </a:ext>
            </a:extLst>
          </p:cNvPr>
          <p:cNvSpPr>
            <a:spLocks noGrp="1"/>
          </p:cNvSpPr>
          <p:nvPr/>
        </p:nvSpPr>
        <p:spPr>
          <a:xfrm>
            <a:off x="7600950" y="2057400"/>
            <a:ext cx="1752600" cy="2381250"/>
          </a:xfrm>
          <a:prstGeom prst="roundRect">
            <a:avLst>
              <a:gd name="adj" fmla="val 6522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CDF256B-04B1-47E0-B961-E38D890428B8}"/>
              </a:ext>
            </a:extLst>
          </p:cNvPr>
          <p:cNvSpPr>
            <a:spLocks noGrp="1"/>
          </p:cNvSpPr>
          <p:nvPr/>
        </p:nvSpPr>
        <p:spPr>
          <a:xfrm>
            <a:off x="7772400" y="22098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43ECCB1-95D5-43FF-913D-C2190CE68BE7}"/>
              </a:ext>
            </a:extLst>
          </p:cNvPr>
          <p:cNvSpPr>
            <a:spLocks noGrp="1"/>
          </p:cNvSpPr>
          <p:nvPr/>
        </p:nvSpPr>
        <p:spPr>
          <a:xfrm>
            <a:off x="7772400" y="2724150"/>
            <a:ext cx="1409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成長・入手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97C8959-D278-4B4D-823E-B5CF879E3AD0}"/>
              </a:ext>
            </a:extLst>
          </p:cNvPr>
          <p:cNvSpPr>
            <a:spLocks noGrp="1"/>
          </p:cNvSpPr>
          <p:nvPr/>
        </p:nvSpPr>
        <p:spPr>
          <a:xfrm>
            <a:off x="7772400" y="3505200"/>
            <a:ext cx="1409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EXP・スコア・</a:t>
            </a:r>
          </a:p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ランダムアイテム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07C3C3E-23EE-4B6A-B87F-B1B4C3986A73}"/>
              </a:ext>
            </a:extLst>
          </p:cNvPr>
          <p:cNvSpPr>
            <a:spLocks noGrp="1"/>
          </p:cNvSpPr>
          <p:nvPr/>
        </p:nvSpPr>
        <p:spPr>
          <a:xfrm>
            <a:off x="9486900" y="2886075"/>
            <a:ext cx="28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1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›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CB25F960-5577-4786-BCF1-8B62C9C76AD5}"/>
              </a:ext>
            </a:extLst>
          </p:cNvPr>
          <p:cNvSpPr>
            <a:spLocks noGrp="1"/>
          </p:cNvSpPr>
          <p:nvPr/>
        </p:nvSpPr>
        <p:spPr>
          <a:xfrm>
            <a:off x="9963150" y="2057400"/>
            <a:ext cx="1752600" cy="2381250"/>
          </a:xfrm>
          <a:prstGeom prst="roundRect">
            <a:avLst>
              <a:gd name="adj" fmla="val 6522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DE76CC7-07A3-4F79-A629-5D4E99FD9F8E}"/>
              </a:ext>
            </a:extLst>
          </p:cNvPr>
          <p:cNvSpPr>
            <a:spLocks noGrp="1"/>
          </p:cNvSpPr>
          <p:nvPr/>
        </p:nvSpPr>
        <p:spPr>
          <a:xfrm>
            <a:off x="10134600" y="22098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53D3F22-CBDF-4BB6-BD0C-F7FBDB838D2D}"/>
              </a:ext>
            </a:extLst>
          </p:cNvPr>
          <p:cNvSpPr>
            <a:spLocks noGrp="1"/>
          </p:cNvSpPr>
          <p:nvPr/>
        </p:nvSpPr>
        <p:spPr>
          <a:xfrm>
            <a:off x="10134600" y="2724150"/>
            <a:ext cx="1409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強敵が再出現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E18C1B0-B78A-4975-B8E2-8F83DF145AAA}"/>
              </a:ext>
            </a:extLst>
          </p:cNvPr>
          <p:cNvSpPr>
            <a:spLocks noGrp="1"/>
          </p:cNvSpPr>
          <p:nvPr/>
        </p:nvSpPr>
        <p:spPr>
          <a:xfrm>
            <a:off x="10134600" y="3505200"/>
            <a:ext cx="1409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勝利ごとに敵Lvが</a:t>
            </a:r>
          </a:p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1〜3上昇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83A722D-0F11-4B6B-8C0A-9156EA88F27D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F4C95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C95D"/>
                </a:solidFill>
                <a:latin typeface="Meiryo"/>
                <a:ea typeface="Meiryo"/>
                <a:cs typeface="Meiryo"/>
              </a:rPr>
              <a:t>LOOP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55889CA-C7B2-498C-8EA4-1218D6DC8791}"/>
              </a:ext>
            </a:extLst>
          </p:cNvPr>
          <p:cNvSpPr>
            <a:spLocks noGrp="1"/>
          </p:cNvSpPr>
          <p:nvPr/>
        </p:nvSpPr>
        <p:spPr>
          <a:xfrm>
            <a:off x="514350" y="5267325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勝利 → 敵が強化 → より効率的な判断が必要</a:t>
            </a:r>
          </a:p>
        </p:txBody>
      </p:sp>
    </p:spTree>
    <p:extLst>
      <p:ext uri="{BB962C8B-B14F-4D97-AF65-F5344CB8AC3E}">
        <p14:creationId xmlns:p14="http://schemas.microsoft.com/office/powerpoint/2010/main" val="41632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02A491C-3466-4FBC-8DCA-78CCAC2A328F}"/>
              </a:ext>
            </a:extLst>
          </p:cNvPr>
          <p:cNvSpPr>
            <a:spLocks noGrp="1"/>
          </p:cNvSpPr>
          <p:nvPr/>
        </p:nvSpPr>
        <p:spPr>
          <a:xfrm>
            <a:off x="457200" y="542925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255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フィールド設計</a:t>
            </a:r>
            <a:endParaRPr sz="2550" b="1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47CD1BC-BF45-4D51-AD87-FA3C696FFA61}"/>
              </a:ext>
            </a:extLst>
          </p:cNvPr>
          <p:cNvSpPr>
            <a:spLocks noGrp="1"/>
          </p:cNvSpPr>
          <p:nvPr/>
        </p:nvSpPr>
        <p:spPr>
          <a:xfrm>
            <a:off x="11239500" y="342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1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20FBD8A-EFA7-4CCF-84A7-77CD08417049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55D6C5"/>
          </a:solidFill>
          <a:ln w="0">
            <a:solidFill>
              <a:srgbClr val="55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7C0E5BE-7424-414E-91C7-0F9E676A151B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7315200" cy="4686300"/>
          </a:xfrm>
          <a:prstGeom prst="roundRect">
            <a:avLst>
              <a:gd name="adj" fmla="val 2439"/>
            </a:avLst>
          </a:prstGeom>
          <a:solidFill>
            <a:srgbClr val="173D49"/>
          </a:solidFill>
          <a:ln w="9525">
            <a:solidFill>
              <a:srgbClr val="55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4" name="図 23"/>
          <p:cNvPicPr>
            <a:picLocks noChangeAspect="1"/>
          </p:cNvPicPr>
          <p:nvPr/>
        </p:nvPicPr>
        <p:blipFill>
          <a:blip r:embed="rId3"/>
          <a:srcRect l="6655" r="6655"/>
          <a:stretch>
            <a:fillRect/>
          </a:stretch>
        </p:blipFill>
        <p:spPr>
          <a:xfrm>
            <a:off x="457200" y="1466850"/>
            <a:ext cx="7239000" cy="4610100"/>
          </a:xfrm>
          <a:prstGeom prst="roundRect">
            <a:avLst>
              <a:gd name="adj" fmla="val 2479"/>
            </a:avLst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CAEE7EB-075E-4C99-B3D4-7504C69F9DE4}"/>
              </a:ext>
            </a:extLst>
          </p:cNvPr>
          <p:cNvSpPr>
            <a:spLocks noGrp="1"/>
          </p:cNvSpPr>
          <p:nvPr/>
        </p:nvSpPr>
        <p:spPr>
          <a:xfrm>
            <a:off x="8039100" y="1466850"/>
            <a:ext cx="3695700" cy="1066800"/>
          </a:xfrm>
          <a:prstGeom prst="roundRect">
            <a:avLst>
              <a:gd name="adj" fmla="val 10714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1627F67-C933-4240-B92D-A2EC3DEE2EBE}"/>
              </a:ext>
            </a:extLst>
          </p:cNvPr>
          <p:cNvSpPr>
            <a:spLocks noGrp="1"/>
          </p:cNvSpPr>
          <p:nvPr/>
        </p:nvSpPr>
        <p:spPr>
          <a:xfrm>
            <a:off x="8229600" y="1600200"/>
            <a:ext cx="3314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マウスカメラ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7E2C6B1-FF8F-4A44-9786-8EE26CF3F1E6}"/>
              </a:ext>
            </a:extLst>
          </p:cNvPr>
          <p:cNvSpPr>
            <a:spLocks noGrp="1"/>
          </p:cNvSpPr>
          <p:nvPr/>
        </p:nvSpPr>
        <p:spPr>
          <a:xfrm>
            <a:off x="8229600" y="1943100"/>
            <a:ext cx="3314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移動方向と直感が一致する回転へ調整</a:t>
            </a:r>
            <a:r>
              <a:rPr sz="11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E0A4BBF-CE63-4EF6-8B3D-7FBED2A8B4A8}"/>
              </a:ext>
            </a:extLst>
          </p:cNvPr>
          <p:cNvSpPr>
            <a:spLocks noGrp="1"/>
          </p:cNvSpPr>
          <p:nvPr/>
        </p:nvSpPr>
        <p:spPr>
          <a:xfrm>
            <a:off x="8039100" y="2686050"/>
            <a:ext cx="3695700" cy="1066800"/>
          </a:xfrm>
          <a:prstGeom prst="roundRect">
            <a:avLst>
              <a:gd name="adj" fmla="val 10714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E6FBC44-86A6-4B9C-ADFF-319FD907E0FB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3314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4C95D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F4C95D"/>
                </a:solidFill>
                <a:latin typeface="Meiryo"/>
                <a:ea typeface="Meiryo"/>
                <a:cs typeface="Meiryo"/>
              </a:rPr>
              <a:t>カーソル制御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32BD016-FD60-49F3-A0A7-81A2BDCA8DAB}"/>
              </a:ext>
            </a:extLst>
          </p:cNvPr>
          <p:cNvSpPr>
            <a:spLocks noGrp="1"/>
          </p:cNvSpPr>
          <p:nvPr/>
        </p:nvSpPr>
        <p:spPr>
          <a:xfrm>
            <a:off x="8229600" y="3162300"/>
            <a:ext cx="3314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通常は非表示、Alt中のみ表示。Escで設定と所持品を確認</a:t>
            </a:r>
            <a:r>
              <a:rPr sz="11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FA21AE1C-FE50-458B-92F1-26594A4FBFEE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695700" cy="1066800"/>
          </a:xfrm>
          <a:prstGeom prst="roundRect">
            <a:avLst>
              <a:gd name="adj" fmla="val 10714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C58CF66-F7DD-449B-A39A-368312F9C903}"/>
              </a:ext>
            </a:extLst>
          </p:cNvPr>
          <p:cNvSpPr>
            <a:spLocks noGrp="1"/>
          </p:cNvSpPr>
          <p:nvPr/>
        </p:nvSpPr>
        <p:spPr>
          <a:xfrm>
            <a:off x="8229600" y="4038600"/>
            <a:ext cx="3314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物語導線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310343E-890B-487B-AAEC-9AA2515888BF}"/>
              </a:ext>
            </a:extLst>
          </p:cNvPr>
          <p:cNvSpPr>
            <a:spLocks noGrp="1"/>
          </p:cNvSpPr>
          <p:nvPr/>
        </p:nvSpPr>
        <p:spPr>
          <a:xfrm>
            <a:off x="8135983" y="4267200"/>
            <a:ext cx="3314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通常NPCとして目的と世界観を提示</a:t>
            </a:r>
            <a:r>
              <a:rPr sz="11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D61E26D8-7CE5-4161-A590-FEE437E69090}"/>
              </a:ext>
            </a:extLst>
          </p:cNvPr>
          <p:cNvSpPr>
            <a:spLocks noGrp="1"/>
          </p:cNvSpPr>
          <p:nvPr/>
        </p:nvSpPr>
        <p:spPr>
          <a:xfrm>
            <a:off x="8039100" y="5124450"/>
            <a:ext cx="3695700" cy="1066800"/>
          </a:xfrm>
          <a:prstGeom prst="roundRect">
            <a:avLst>
              <a:gd name="adj" fmla="val 10714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15F39D1-D75A-431F-9E3E-B8227B3FBCD5}"/>
              </a:ext>
            </a:extLst>
          </p:cNvPr>
          <p:cNvSpPr>
            <a:spLocks noGrp="1"/>
          </p:cNvSpPr>
          <p:nvPr/>
        </p:nvSpPr>
        <p:spPr>
          <a:xfrm>
            <a:off x="8229600" y="5257800"/>
            <a:ext cx="3314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06A6A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F06A6A"/>
                </a:solidFill>
                <a:latin typeface="Meiryo"/>
                <a:ea typeface="Meiryo"/>
                <a:cs typeface="Meiryo"/>
              </a:rPr>
              <a:t>衝突・地形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90C5303-F86F-41FE-A8A7-57A11EE4D9A7}"/>
              </a:ext>
            </a:extLst>
          </p:cNvPr>
          <p:cNvSpPr>
            <a:spLocks noGrp="1"/>
          </p:cNvSpPr>
          <p:nvPr/>
        </p:nvSpPr>
        <p:spPr>
          <a:xfrm>
            <a:off x="8229600" y="5600700"/>
            <a:ext cx="3314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移動不能を防ぐ当たり判定を調整</a:t>
            </a:r>
            <a:r>
              <a:rPr sz="11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7010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721E81A-6C09-403F-B7CE-EB8EC742A714}"/>
              </a:ext>
            </a:extLst>
          </p:cNvPr>
          <p:cNvSpPr>
            <a:spLocks noGrp="1"/>
          </p:cNvSpPr>
          <p:nvPr/>
        </p:nvSpPr>
        <p:spPr>
          <a:xfrm>
            <a:off x="457200" y="542925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255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戦闘設計</a:t>
            </a:r>
            <a:endParaRPr sz="2550" b="1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DC7F10-0CE6-4AD4-BE05-B48E5E7894CD}"/>
              </a:ext>
            </a:extLst>
          </p:cNvPr>
          <p:cNvSpPr>
            <a:spLocks noGrp="1"/>
          </p:cNvSpPr>
          <p:nvPr/>
        </p:nvSpPr>
        <p:spPr>
          <a:xfrm>
            <a:off x="11239500" y="342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1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F04DE0-7D82-4A17-9500-FACCB8FBD0AC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55D6C5"/>
          </a:solidFill>
          <a:ln w="0">
            <a:solidFill>
              <a:srgbClr val="55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D0221FA-DF87-4582-88CD-F0FEA4BA70A7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6743700" cy="4572000"/>
          </a:xfrm>
          <a:prstGeom prst="roundRect">
            <a:avLst>
              <a:gd name="adj" fmla="val 2500"/>
            </a:avLst>
          </a:prstGeom>
          <a:solidFill>
            <a:srgbClr val="173D49"/>
          </a:solidFill>
          <a:ln w="9525">
            <a:solidFill>
              <a:srgbClr val="55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4" name="図 23"/>
          <p:cNvPicPr>
            <a:picLocks noChangeAspect="1"/>
          </p:cNvPicPr>
          <p:nvPr/>
        </p:nvPicPr>
        <p:blipFill>
          <a:blip r:embed="rId3"/>
          <a:srcRect l="9062" r="9062"/>
          <a:stretch>
            <a:fillRect/>
          </a:stretch>
        </p:blipFill>
        <p:spPr>
          <a:xfrm>
            <a:off x="457200" y="1466850"/>
            <a:ext cx="6667500" cy="4495800"/>
          </a:xfrm>
          <a:prstGeom prst="roundRect">
            <a:avLst>
              <a:gd name="adj" fmla="val 2542"/>
            </a:avLst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0689FC0-AA22-4896-9AA2-941CDAF58FB9}"/>
              </a:ext>
            </a:extLst>
          </p:cNvPr>
          <p:cNvSpPr>
            <a:spLocks noGrp="1"/>
          </p:cNvSpPr>
          <p:nvPr/>
        </p:nvSpPr>
        <p:spPr>
          <a:xfrm>
            <a:off x="7448550" y="1466850"/>
            <a:ext cx="4286250" cy="1066800"/>
          </a:xfrm>
          <a:prstGeom prst="roundRect">
            <a:avLst>
              <a:gd name="adj" fmla="val 10714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1B6BC6A-46B5-4F3B-8D15-B79E76260534}"/>
              </a:ext>
            </a:extLst>
          </p:cNvPr>
          <p:cNvSpPr>
            <a:spLocks noGrp="1"/>
          </p:cNvSpPr>
          <p:nvPr/>
        </p:nvSpPr>
        <p:spPr>
          <a:xfrm>
            <a:off x="7639050" y="16002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4C95D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F4C95D"/>
                </a:solidFill>
                <a:latin typeface="Meiryo"/>
                <a:ea typeface="Meiryo"/>
                <a:cs typeface="Meiryo"/>
              </a:rPr>
              <a:t>AP制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9DEF9D6-5772-4654-B3BD-9714CA812B90}"/>
              </a:ext>
            </a:extLst>
          </p:cNvPr>
          <p:cNvSpPr>
            <a:spLocks noGrp="1"/>
          </p:cNvSpPr>
          <p:nvPr/>
        </p:nvSpPr>
        <p:spPr>
          <a:xfrm>
            <a:off x="7639050" y="194310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HP直下にAPを表示し、行動コストを常に把握</a:t>
            </a:r>
            <a:r>
              <a:rPr sz="11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DCDD20A-AA86-4E0B-B99A-75287CE3808E}"/>
              </a:ext>
            </a:extLst>
          </p:cNvPr>
          <p:cNvSpPr>
            <a:spLocks noGrp="1"/>
          </p:cNvSpPr>
          <p:nvPr/>
        </p:nvSpPr>
        <p:spPr>
          <a:xfrm>
            <a:off x="7448550" y="2686050"/>
            <a:ext cx="4286250" cy="1066800"/>
          </a:xfrm>
          <a:prstGeom prst="roundRect">
            <a:avLst>
              <a:gd name="adj" fmla="val 10714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4286D9B-3D11-4647-9E0C-13F786254884}"/>
              </a:ext>
            </a:extLst>
          </p:cNvPr>
          <p:cNvSpPr>
            <a:spLocks noGrp="1"/>
          </p:cNvSpPr>
          <p:nvPr/>
        </p:nvSpPr>
        <p:spPr>
          <a:xfrm>
            <a:off x="7639050" y="28194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耐性ゲージ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6D56D1A-82C6-4B20-A7E7-5EE522F321F7}"/>
              </a:ext>
            </a:extLst>
          </p:cNvPr>
          <p:cNvSpPr>
            <a:spLocks noGrp="1"/>
          </p:cNvSpPr>
          <p:nvPr/>
        </p:nvSpPr>
        <p:spPr>
          <a:xfrm>
            <a:off x="7639050" y="316230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敵の耐性を削ってブレイク</a:t>
            </a:r>
            <a:r>
              <a:rPr sz="11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2FA5D74-0DE0-4768-8E7A-CB9076B21CBA}"/>
              </a:ext>
            </a:extLst>
          </p:cNvPr>
          <p:cNvSpPr>
            <a:spLocks noGrp="1"/>
          </p:cNvSpPr>
          <p:nvPr/>
        </p:nvSpPr>
        <p:spPr>
          <a:xfrm>
            <a:off x="7448550" y="3905250"/>
            <a:ext cx="4286250" cy="1066800"/>
          </a:xfrm>
          <a:prstGeom prst="roundRect">
            <a:avLst>
              <a:gd name="adj" fmla="val 10714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9975BFF-C784-4A93-97A1-4BAEE01F5499}"/>
              </a:ext>
            </a:extLst>
          </p:cNvPr>
          <p:cNvSpPr>
            <a:spLocks noGrp="1"/>
          </p:cNvSpPr>
          <p:nvPr/>
        </p:nvSpPr>
        <p:spPr>
          <a:xfrm>
            <a:off x="7639050" y="40386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06A6A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F06A6A"/>
                </a:solidFill>
                <a:latin typeface="Meiryo"/>
                <a:ea typeface="Meiryo"/>
                <a:cs typeface="Meiryo"/>
              </a:rPr>
              <a:t>演出と判定の同期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A97EAE1-F061-4948-A78B-5CD3DA4EDD61}"/>
              </a:ext>
            </a:extLst>
          </p:cNvPr>
          <p:cNvSpPr>
            <a:spLocks noGrp="1"/>
          </p:cNvSpPr>
          <p:nvPr/>
        </p:nvSpPr>
        <p:spPr>
          <a:xfrm>
            <a:off x="7639050" y="438150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攻撃アニメーション終了まで敵ターンを待機。ダメージ発生点も安定化</a:t>
            </a:r>
            <a:r>
              <a:rPr sz="11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BD3E4C41-90FE-4701-82F9-A1E9DCFF9C29}"/>
              </a:ext>
            </a:extLst>
          </p:cNvPr>
          <p:cNvSpPr>
            <a:spLocks noGrp="1"/>
          </p:cNvSpPr>
          <p:nvPr/>
        </p:nvSpPr>
        <p:spPr>
          <a:xfrm>
            <a:off x="7448550" y="5124450"/>
            <a:ext cx="4286250" cy="1066800"/>
          </a:xfrm>
          <a:prstGeom prst="roundRect">
            <a:avLst>
              <a:gd name="adj" fmla="val 10714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8119809-B60A-4853-8DC7-B1209962C91E}"/>
              </a:ext>
            </a:extLst>
          </p:cNvPr>
          <p:cNvSpPr>
            <a:spLocks noGrp="1"/>
          </p:cNvSpPr>
          <p:nvPr/>
        </p:nvSpPr>
        <p:spPr>
          <a:xfrm>
            <a:off x="7639050" y="52578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初戦チュートリアル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1A5545E-9C8F-409D-8386-4D7F5C909FFB}"/>
              </a:ext>
            </a:extLst>
          </p:cNvPr>
          <p:cNvSpPr>
            <a:spLocks noGrp="1"/>
          </p:cNvSpPr>
          <p:nvPr/>
        </p:nvSpPr>
        <p:spPr>
          <a:xfrm>
            <a:off x="7639050" y="560070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125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最初の敵で操作を段階表示し、説明を読みながら実戦で学べる</a:t>
            </a:r>
            <a:r>
              <a:rPr sz="11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3813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5F05112-2D62-4CF7-91CA-A716C9EB94E6}"/>
              </a:ext>
            </a:extLst>
          </p:cNvPr>
          <p:cNvSpPr>
            <a:spLocks noGrp="1"/>
          </p:cNvSpPr>
          <p:nvPr/>
        </p:nvSpPr>
        <p:spPr>
          <a:xfrm>
            <a:off x="457200" y="542925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255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成長とリプレイ性</a:t>
            </a:r>
            <a:r>
              <a:rPr sz="2550" b="1" dirty="0">
                <a:solidFill>
                  <a:srgbClr val="EAF8F7"/>
                </a:solidFill>
                <a:latin typeface="Meiryo"/>
                <a:ea typeface="Meiryo"/>
                <a:cs typeface="Meiryo"/>
              </a:rPr>
              <a:t> 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A5B47ED-CF09-4F33-8280-C53AAC4E3DD4}"/>
              </a:ext>
            </a:extLst>
          </p:cNvPr>
          <p:cNvSpPr>
            <a:spLocks noGrp="1"/>
          </p:cNvSpPr>
          <p:nvPr/>
        </p:nvSpPr>
        <p:spPr>
          <a:xfrm>
            <a:off x="11239500" y="342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1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8EA6BA3-EEFC-40FF-8971-AD55F0708B8E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55D6C5"/>
          </a:solidFill>
          <a:ln w="0">
            <a:solidFill>
              <a:srgbClr val="55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7C7AFD3-8B56-49A1-B74D-B0166E9BB971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4648200" cy="4572000"/>
          </a:xfrm>
          <a:prstGeom prst="roundRect">
            <a:avLst>
              <a:gd name="adj" fmla="val 2500"/>
            </a:avLst>
          </a:prstGeom>
          <a:solidFill>
            <a:srgbClr val="173D49"/>
          </a:solidFill>
          <a:ln w="9525">
            <a:solidFill>
              <a:srgbClr val="55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8" name="図 27"/>
          <p:cNvPicPr>
            <a:picLocks noChangeAspect="1"/>
          </p:cNvPicPr>
          <p:nvPr/>
        </p:nvPicPr>
        <p:blipFill>
          <a:blip r:embed="rId3"/>
          <a:srcRect l="21928" r="21928"/>
          <a:stretch>
            <a:fillRect/>
          </a:stretch>
        </p:blipFill>
        <p:spPr>
          <a:xfrm>
            <a:off x="457200" y="1466850"/>
            <a:ext cx="4572000" cy="4495800"/>
          </a:xfrm>
          <a:prstGeom prst="roundRect">
            <a:avLst>
              <a:gd name="adj" fmla="val 2542"/>
            </a:avLst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F3E9E54-B7F1-4784-9DDD-6A2F66B266E6}"/>
              </a:ext>
            </a:extLst>
          </p:cNvPr>
          <p:cNvSpPr>
            <a:spLocks noGrp="1"/>
          </p:cNvSpPr>
          <p:nvPr/>
        </p:nvSpPr>
        <p:spPr>
          <a:xfrm>
            <a:off x="5372100" y="1466850"/>
            <a:ext cx="2857500" cy="1943100"/>
          </a:xfrm>
          <a:prstGeom prst="roundRect">
            <a:avLst>
              <a:gd name="adj" fmla="val 8571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117703C-4F51-448A-A549-0B46D939CF16}"/>
              </a:ext>
            </a:extLst>
          </p:cNvPr>
          <p:cNvSpPr>
            <a:spLocks noGrp="1"/>
          </p:cNvSpPr>
          <p:nvPr/>
        </p:nvSpPr>
        <p:spPr>
          <a:xfrm>
            <a:off x="5581650" y="1638300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050" b="1" dirty="0">
                <a:solidFill>
                  <a:srgbClr val="55D6C5"/>
                </a:solidFill>
                <a:latin typeface="Meiryo"/>
                <a:ea typeface="Meiryo"/>
                <a:cs typeface="Meiryo"/>
              </a:rPr>
              <a:t>PLAYER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994C1FE-93C2-489C-BA39-ABE24AFD53BC}"/>
              </a:ext>
            </a:extLst>
          </p:cNvPr>
          <p:cNvSpPr>
            <a:spLocks noGrp="1"/>
          </p:cNvSpPr>
          <p:nvPr/>
        </p:nvSpPr>
        <p:spPr>
          <a:xfrm>
            <a:off x="5581650" y="2095500"/>
            <a:ext cx="2438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経験値でレベルアップ</a:t>
            </a:r>
            <a:endParaRPr sz="1500" b="1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  <a:p>
            <a:pPr algn="l">
              <a:defRPr sz="150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HP・攻撃力などが</a:t>
            </a:r>
            <a:r>
              <a:rPr lang="en-US" sz="150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up</a:t>
            </a:r>
            <a:endParaRPr sz="1500" b="1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38DB463-A09F-44E9-A752-8A8DF3E3FD1A}"/>
              </a:ext>
            </a:extLst>
          </p:cNvPr>
          <p:cNvSpPr>
            <a:spLocks noGrp="1"/>
          </p:cNvSpPr>
          <p:nvPr/>
        </p:nvSpPr>
        <p:spPr>
          <a:xfrm>
            <a:off x="5581650" y="29718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endParaRPr sz="900" b="1" dirty="0">
              <a:solidFill>
                <a:srgbClr val="A8C9CD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0579B7D5-85B6-46B4-BC6C-2C630C1C286C}"/>
              </a:ext>
            </a:extLst>
          </p:cNvPr>
          <p:cNvSpPr>
            <a:spLocks noGrp="1"/>
          </p:cNvSpPr>
          <p:nvPr/>
        </p:nvSpPr>
        <p:spPr>
          <a:xfrm>
            <a:off x="8591550" y="1466850"/>
            <a:ext cx="2857500" cy="1943100"/>
          </a:xfrm>
          <a:prstGeom prst="roundRect">
            <a:avLst>
              <a:gd name="adj" fmla="val 5882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70042F0-C39A-4B4A-8E7B-26189983E0F3}"/>
              </a:ext>
            </a:extLst>
          </p:cNvPr>
          <p:cNvSpPr>
            <a:spLocks noGrp="1"/>
          </p:cNvSpPr>
          <p:nvPr/>
        </p:nvSpPr>
        <p:spPr>
          <a:xfrm>
            <a:off x="8801100" y="1638300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F4C95D"/>
                </a:solidFill>
                <a:latin typeface="Meiryo"/>
                <a:ea typeface="Meiryo"/>
                <a:cs typeface="Meiryo"/>
              </a:defRPr>
            </a:pPr>
            <a:r>
              <a:rPr sz="1050" b="1" dirty="0">
                <a:solidFill>
                  <a:srgbClr val="F4C95D"/>
                </a:solidFill>
                <a:latin typeface="Meiryo"/>
                <a:ea typeface="Meiryo"/>
                <a:cs typeface="Meiryo"/>
              </a:rPr>
              <a:t>ENEMY 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E5885D6-25C3-48DB-A325-A258D95D3C3B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438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撃破ごとに敵Lvが</a:t>
            </a:r>
          </a:p>
          <a:p>
            <a:pPr algn="l">
              <a:defRPr sz="150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ランダムで +1〜3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0CBAA7-A733-4C96-B2EE-0C5950F06B3F}"/>
              </a:ext>
            </a:extLst>
          </p:cNvPr>
          <p:cNvSpPr>
            <a:spLocks noGrp="1"/>
          </p:cNvSpPr>
          <p:nvPr/>
        </p:nvSpPr>
        <p:spPr>
          <a:xfrm>
            <a:off x="8801100" y="29718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endParaRPr sz="900" b="1" dirty="0">
              <a:solidFill>
                <a:srgbClr val="A8C9CD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E08A85B-9273-449D-B6FD-90EAAB723C81}"/>
              </a:ext>
            </a:extLst>
          </p:cNvPr>
          <p:cNvSpPr>
            <a:spLocks noGrp="1"/>
          </p:cNvSpPr>
          <p:nvPr/>
        </p:nvSpPr>
        <p:spPr>
          <a:xfrm>
            <a:off x="5372100" y="3714750"/>
            <a:ext cx="2857500" cy="1943100"/>
          </a:xfrm>
          <a:prstGeom prst="roundRect">
            <a:avLst>
              <a:gd name="adj" fmla="val 5882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38322AF-4686-41E0-B541-51B1B777C04C}"/>
              </a:ext>
            </a:extLst>
          </p:cNvPr>
          <p:cNvSpPr>
            <a:spLocks noGrp="1"/>
          </p:cNvSpPr>
          <p:nvPr/>
        </p:nvSpPr>
        <p:spPr>
          <a:xfrm>
            <a:off x="5581650" y="3886200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SCORE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B8C6657-36F8-4244-9F8E-CC45ACDD1464}"/>
              </a:ext>
            </a:extLst>
          </p:cNvPr>
          <p:cNvSpPr>
            <a:spLocks noGrp="1"/>
          </p:cNvSpPr>
          <p:nvPr/>
        </p:nvSpPr>
        <p:spPr>
          <a:xfrm>
            <a:off x="5581650" y="4343400"/>
            <a:ext cx="2438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倒した敵とレベルに応じて</a:t>
            </a:r>
            <a:endParaRPr sz="1500" b="1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  <a:p>
            <a:pPr algn="l">
              <a:defRPr sz="150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スコアを加算</a:t>
            </a:r>
            <a:endParaRPr sz="1500" b="1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7F55557-D8F2-487B-88C8-0719893E30CB}"/>
              </a:ext>
            </a:extLst>
          </p:cNvPr>
          <p:cNvSpPr>
            <a:spLocks noGrp="1"/>
          </p:cNvSpPr>
          <p:nvPr/>
        </p:nvSpPr>
        <p:spPr>
          <a:xfrm>
            <a:off x="5581650" y="52197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endParaRPr sz="900" b="1" dirty="0">
              <a:solidFill>
                <a:srgbClr val="A8C9CD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04C884F-19EE-45F0-A393-76EC61157F2B}"/>
              </a:ext>
            </a:extLst>
          </p:cNvPr>
          <p:cNvSpPr>
            <a:spLocks noGrp="1"/>
          </p:cNvSpPr>
          <p:nvPr/>
        </p:nvSpPr>
        <p:spPr>
          <a:xfrm>
            <a:off x="8591550" y="3714750"/>
            <a:ext cx="2857500" cy="1943100"/>
          </a:xfrm>
          <a:prstGeom prst="roundRect">
            <a:avLst>
              <a:gd name="adj" fmla="val 5882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49A51FF-4435-4FB5-B9BC-81839CC2E992}"/>
              </a:ext>
            </a:extLst>
          </p:cNvPr>
          <p:cNvSpPr>
            <a:spLocks noGrp="1"/>
          </p:cNvSpPr>
          <p:nvPr/>
        </p:nvSpPr>
        <p:spPr>
          <a:xfrm>
            <a:off x="8801100" y="3886200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F06A6A"/>
                </a:solidFill>
                <a:latin typeface="Meiryo"/>
                <a:ea typeface="Meiryo"/>
                <a:cs typeface="Meiryo"/>
              </a:defRPr>
            </a:pPr>
            <a:r>
              <a:rPr lang="en-US" sz="1050" b="1" dirty="0">
                <a:solidFill>
                  <a:srgbClr val="F06A6A"/>
                </a:solidFill>
                <a:latin typeface="Meiryo"/>
                <a:ea typeface="Meiryo"/>
                <a:cs typeface="Meiryo"/>
              </a:rPr>
              <a:t>ITEMS</a:t>
            </a:r>
            <a:endParaRPr sz="1050" b="1" dirty="0">
              <a:solidFill>
                <a:srgbClr val="F06A6A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4EE0887-975B-4CF7-BCC5-E0E2E2172B6E}"/>
              </a:ext>
            </a:extLst>
          </p:cNvPr>
          <p:cNvSpPr>
            <a:spLocks noGrp="1"/>
          </p:cNvSpPr>
          <p:nvPr/>
        </p:nvSpPr>
        <p:spPr>
          <a:xfrm>
            <a:off x="8801100" y="4343400"/>
            <a:ext cx="2438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攻撃力UP</a:t>
            </a:r>
            <a:r>
              <a:rPr sz="1500" b="1" dirty="0">
                <a:solidFill>
                  <a:srgbClr val="EAF8F7"/>
                </a:solidFill>
                <a:latin typeface="Meiryo"/>
                <a:ea typeface="Meiryo"/>
                <a:cs typeface="Meiryo"/>
              </a:rPr>
              <a:t> / </a:t>
            </a:r>
            <a:r>
              <a:rPr sz="150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回復アイテム</a:t>
            </a:r>
            <a:endParaRPr sz="1500" b="1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  <a:p>
            <a:pPr algn="l">
              <a:defRPr sz="150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50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戦闘中のみ使用可能</a:t>
            </a:r>
            <a:endParaRPr sz="1500" b="1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7A07741-85D6-4360-B0D4-061DFBDB323A}"/>
              </a:ext>
            </a:extLst>
          </p:cNvPr>
          <p:cNvSpPr>
            <a:spLocks noGrp="1"/>
          </p:cNvSpPr>
          <p:nvPr/>
        </p:nvSpPr>
        <p:spPr>
          <a:xfrm>
            <a:off x="8801100" y="52197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endParaRPr sz="900" b="1" dirty="0">
              <a:solidFill>
                <a:srgbClr val="A8C9CD"/>
              </a:solidFill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945977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1FC2141-15BD-4502-8FF6-722DF672EDD5}"/>
              </a:ext>
            </a:extLst>
          </p:cNvPr>
          <p:cNvSpPr>
            <a:spLocks noGrp="1"/>
          </p:cNvSpPr>
          <p:nvPr/>
        </p:nvSpPr>
        <p:spPr>
          <a:xfrm>
            <a:off x="457200" y="542925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技術構成と実装 — C++でゲームループ全体を統合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8EF5B19-27C0-438F-A834-AFE63534AA73}"/>
              </a:ext>
            </a:extLst>
          </p:cNvPr>
          <p:cNvSpPr>
            <a:spLocks noGrp="1"/>
          </p:cNvSpPr>
          <p:nvPr/>
        </p:nvSpPr>
        <p:spPr>
          <a:xfrm>
            <a:off x="11239500" y="342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1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8AE8663-1E3D-4BEF-98EF-9A1ADA671AB7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55D6C5"/>
          </a:solidFill>
          <a:ln w="0">
            <a:solidFill>
              <a:srgbClr val="55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00780A4-7FAF-4A47-96C0-B73A3840F0EC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173D49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26E981-35C9-48A0-9760-57740185C8EE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F4C95D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4C95D"/>
                </a:solidFill>
                <a:latin typeface="Meiryo"/>
                <a:ea typeface="Meiryo"/>
                <a:cs typeface="Meiryo"/>
              </a:rPr>
              <a:t>C++17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0B7F48B-E934-437A-A35D-81655C616B0A}"/>
              </a:ext>
            </a:extLst>
          </p:cNvPr>
          <p:cNvSpPr>
            <a:spLocks noGrp="1"/>
          </p:cNvSpPr>
          <p:nvPr/>
        </p:nvSpPr>
        <p:spPr>
          <a:xfrm>
            <a:off x="628650" y="22098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状態管理 / 戦闘ロジック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C6D338E-82CE-4877-8BE9-58245D7D9995}"/>
              </a:ext>
            </a:extLst>
          </p:cNvPr>
          <p:cNvSpPr>
            <a:spLocks noGrp="1"/>
          </p:cNvSpPr>
          <p:nvPr/>
        </p:nvSpPr>
        <p:spPr>
          <a:xfrm>
            <a:off x="3276600" y="1524000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1FC5112-D00B-44DE-B68A-0258FB404E9A}"/>
              </a:ext>
            </a:extLst>
          </p:cNvPr>
          <p:cNvSpPr>
            <a:spLocks noGrp="1"/>
          </p:cNvSpPr>
          <p:nvPr/>
        </p:nvSpPr>
        <p:spPr>
          <a:xfrm>
            <a:off x="3448050" y="1714500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OpenGL 3.3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3617943-BC0C-4DA1-8FA1-37A16ED58DAC}"/>
              </a:ext>
            </a:extLst>
          </p:cNvPr>
          <p:cNvSpPr>
            <a:spLocks noGrp="1"/>
          </p:cNvSpPr>
          <p:nvPr/>
        </p:nvSpPr>
        <p:spPr>
          <a:xfrm>
            <a:off x="3448050" y="22098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3D描画 / GLSL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5ED9353-F5AC-4B8E-8AA0-28671F32B9CE}"/>
              </a:ext>
            </a:extLst>
          </p:cNvPr>
          <p:cNvSpPr>
            <a:spLocks noGrp="1"/>
          </p:cNvSpPr>
          <p:nvPr/>
        </p:nvSpPr>
        <p:spPr>
          <a:xfrm>
            <a:off x="6096000" y="1524000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269B8D6-24C4-4344-8274-E7554CE4CDED}"/>
              </a:ext>
            </a:extLst>
          </p:cNvPr>
          <p:cNvSpPr>
            <a:spLocks noGrp="1"/>
          </p:cNvSpPr>
          <p:nvPr/>
        </p:nvSpPr>
        <p:spPr>
          <a:xfrm>
            <a:off x="6267450" y="1714500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GLFW + GLEW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5F1B891-FADC-42BF-A218-66A008E58C30}"/>
              </a:ext>
            </a:extLst>
          </p:cNvPr>
          <p:cNvSpPr>
            <a:spLocks noGrp="1"/>
          </p:cNvSpPr>
          <p:nvPr/>
        </p:nvSpPr>
        <p:spPr>
          <a:xfrm>
            <a:off x="6267450" y="22098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ウィンドウ / 入力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30CAA667-25EE-4E44-9677-75556C9D79D0}"/>
              </a:ext>
            </a:extLst>
          </p:cNvPr>
          <p:cNvSpPr>
            <a:spLocks noGrp="1"/>
          </p:cNvSpPr>
          <p:nvPr/>
        </p:nvSpPr>
        <p:spPr>
          <a:xfrm>
            <a:off x="8915400" y="1524000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5229248-2EB2-4CF9-80BA-644EA55EB5E1}"/>
              </a:ext>
            </a:extLst>
          </p:cNvPr>
          <p:cNvSpPr>
            <a:spLocks noGrp="1"/>
          </p:cNvSpPr>
          <p:nvPr/>
        </p:nvSpPr>
        <p:spPr>
          <a:xfrm>
            <a:off x="9086850" y="1714500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Dear ImGui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7C3B995-1EC9-4CE5-90FD-F1E22A3B5FC5}"/>
              </a:ext>
            </a:extLst>
          </p:cNvPr>
          <p:cNvSpPr>
            <a:spLocks noGrp="1"/>
          </p:cNvSpPr>
          <p:nvPr/>
        </p:nvSpPr>
        <p:spPr>
          <a:xfrm>
            <a:off x="9086850" y="22098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HUD / 設定 / 所持品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57D38249-050C-447E-9CD7-3027F1A46402}"/>
              </a:ext>
            </a:extLst>
          </p:cNvPr>
          <p:cNvSpPr>
            <a:spLocks noGrp="1"/>
          </p:cNvSpPr>
          <p:nvPr/>
        </p:nvSpPr>
        <p:spPr>
          <a:xfrm>
            <a:off x="457200" y="3562350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620B8F4-59A5-487E-9058-18BDF1ADD96C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GLM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F6D6CEE-9392-4BA7-AE26-58DC9FFB29EF}"/>
              </a:ext>
            </a:extLst>
          </p:cNvPr>
          <p:cNvSpPr>
            <a:spLocks noGrp="1"/>
          </p:cNvSpPr>
          <p:nvPr/>
        </p:nvSpPr>
        <p:spPr>
          <a:xfrm>
            <a:off x="628650" y="424815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カメラ / 行列計算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94E305B-A9F5-4968-B5AD-7865203889AE}"/>
              </a:ext>
            </a:extLst>
          </p:cNvPr>
          <p:cNvSpPr>
            <a:spLocks noGrp="1"/>
          </p:cNvSpPr>
          <p:nvPr/>
        </p:nvSpPr>
        <p:spPr>
          <a:xfrm>
            <a:off x="3276600" y="3562350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032CD12-1C71-46C7-B2FF-646E72FB2D27}"/>
              </a:ext>
            </a:extLst>
          </p:cNvPr>
          <p:cNvSpPr>
            <a:spLocks noGrp="1"/>
          </p:cNvSpPr>
          <p:nvPr/>
        </p:nvSpPr>
        <p:spPr>
          <a:xfrm>
            <a:off x="3448050" y="3752850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Assimp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C0A3E9D-4C3B-4A56-BECA-EE79D0223014}"/>
              </a:ext>
            </a:extLst>
          </p:cNvPr>
          <p:cNvSpPr>
            <a:spLocks noGrp="1"/>
          </p:cNvSpPr>
          <p:nvPr/>
        </p:nvSpPr>
        <p:spPr>
          <a:xfrm>
            <a:off x="3448050" y="424815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キャラ・敵モデル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793B249C-2933-417B-9D7C-6C3AF1F4605B}"/>
              </a:ext>
            </a:extLst>
          </p:cNvPr>
          <p:cNvSpPr>
            <a:spLocks noGrp="1"/>
          </p:cNvSpPr>
          <p:nvPr/>
        </p:nvSpPr>
        <p:spPr>
          <a:xfrm>
            <a:off x="6096000" y="3562350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15FFE2D-C142-4AC4-8DFA-391ADB430C8B}"/>
              </a:ext>
            </a:extLst>
          </p:cNvPr>
          <p:cNvSpPr>
            <a:spLocks noGrp="1"/>
          </p:cNvSpPr>
          <p:nvPr/>
        </p:nvSpPr>
        <p:spPr>
          <a:xfrm>
            <a:off x="6267450" y="3752850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JSON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BF6481D-E57C-4429-A69F-7A504C7394FF}"/>
              </a:ext>
            </a:extLst>
          </p:cNvPr>
          <p:cNvSpPr>
            <a:spLocks noGrp="1"/>
          </p:cNvSpPr>
          <p:nvPr/>
        </p:nvSpPr>
        <p:spPr>
          <a:xfrm>
            <a:off x="6267450" y="424815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データ管理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D505E7BE-D670-44EF-98E2-772559F8AD92}"/>
              </a:ext>
            </a:extLst>
          </p:cNvPr>
          <p:cNvSpPr>
            <a:spLocks noGrp="1"/>
          </p:cNvSpPr>
          <p:nvPr/>
        </p:nvSpPr>
        <p:spPr>
          <a:xfrm>
            <a:off x="8915400" y="3562350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102C3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0716A8D-114F-4D9F-9A1E-AD8A367BDB54}"/>
              </a:ext>
            </a:extLst>
          </p:cNvPr>
          <p:cNvSpPr>
            <a:spLocks noGrp="1"/>
          </p:cNvSpPr>
          <p:nvPr/>
        </p:nvSpPr>
        <p:spPr>
          <a:xfrm>
            <a:off x="9086850" y="3752850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Visual Studio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97AFE17-7D9C-4245-95D0-52D12450B1B8}"/>
              </a:ext>
            </a:extLst>
          </p:cNvPr>
          <p:cNvSpPr>
            <a:spLocks noGrp="1"/>
          </p:cNvSpPr>
          <p:nvPr/>
        </p:nvSpPr>
        <p:spPr>
          <a:xfrm>
            <a:off x="9086850" y="424815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ビルド / デバッグ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12CE701-D0DF-466B-94DB-AE480FCA4A53}"/>
              </a:ext>
            </a:extLst>
          </p:cNvPr>
          <p:cNvSpPr>
            <a:spLocks noGrp="1"/>
          </p:cNvSpPr>
          <p:nvPr/>
        </p:nvSpPr>
        <p:spPr>
          <a:xfrm>
            <a:off x="457200" y="57531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F4C95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C95D"/>
                </a:solidFill>
                <a:latin typeface="Meiryo"/>
                <a:ea typeface="Meiryo"/>
                <a:cs typeface="Meiryo"/>
              </a:rPr>
              <a:t>設計の中心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59ACFB6-C7D3-4556-AD45-171E941BEE83}"/>
              </a:ext>
            </a:extLst>
          </p:cNvPr>
          <p:cNvSpPr>
            <a:spLocks noGrp="1"/>
          </p:cNvSpPr>
          <p:nvPr/>
        </p:nvSpPr>
        <p:spPr>
          <a:xfrm>
            <a:off x="1924050" y="567690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探索・戦闘・演出をステートで分離し、画面遷移と入力競合を抑制</a:t>
            </a:r>
          </a:p>
        </p:txBody>
      </p:sp>
    </p:spTree>
    <p:extLst>
      <p:ext uri="{BB962C8B-B14F-4D97-AF65-F5344CB8AC3E}">
        <p14:creationId xmlns:p14="http://schemas.microsoft.com/office/powerpoint/2010/main" val="1722395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B069579-E43A-45C7-AE09-9053ED3568EA}"/>
              </a:ext>
            </a:extLst>
          </p:cNvPr>
          <p:cNvSpPr>
            <a:spLocks noGrp="1"/>
          </p:cNvSpPr>
          <p:nvPr/>
        </p:nvSpPr>
        <p:spPr>
          <a:xfrm>
            <a:off x="6057900" y="0"/>
            <a:ext cx="6134100" cy="6858000"/>
          </a:xfrm>
          <a:prstGeom prst="roundRect">
            <a:avLst>
              <a:gd name="adj" fmla="val 1863"/>
            </a:avLst>
          </a:prstGeom>
          <a:solidFill>
            <a:srgbClr val="173D49"/>
          </a:solidFill>
          <a:ln w="9525">
            <a:solidFill>
              <a:srgbClr val="55D6C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3"/>
          <a:srcRect l="25463" r="25463"/>
          <a:stretch>
            <a:fillRect/>
          </a:stretch>
        </p:blipFill>
        <p:spPr>
          <a:xfrm>
            <a:off x="6096000" y="0"/>
            <a:ext cx="6096000" cy="6858000"/>
          </a:xfrm>
          <a:prstGeom prst="roundRect">
            <a:avLst>
              <a:gd name="adj" fmla="val 1875"/>
            </a:avLst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6843BF5-CF63-46B6-9C88-A59FC77290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71821"/>
          </a:solidFill>
          <a:ln w="0">
            <a:solidFill>
              <a:srgbClr val="07182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8015C77-214F-4EBF-A1F0-5515C47B974C}"/>
              </a:ext>
            </a:extLst>
          </p:cNvPr>
          <p:cNvSpPr>
            <a:spLocks noGrp="1"/>
          </p:cNvSpPr>
          <p:nvPr/>
        </p:nvSpPr>
        <p:spPr>
          <a:xfrm>
            <a:off x="495300" y="1466850"/>
            <a:ext cx="51435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360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遊べる形まで</a:t>
            </a:r>
            <a:endParaRPr sz="3600" b="1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  <a:p>
            <a:pPr algn="l">
              <a:defRPr sz="360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sz="3600" b="1" dirty="0" err="1">
                <a:solidFill>
                  <a:srgbClr val="EAF8F7"/>
                </a:solidFill>
                <a:latin typeface="Meiryo"/>
                <a:ea typeface="Meiryo"/>
                <a:cs typeface="Meiryo"/>
              </a:rPr>
              <a:t>仕上げ切る</a:t>
            </a:r>
            <a:r>
              <a:rPr sz="3600" b="1" dirty="0">
                <a:solidFill>
                  <a:srgbClr val="EAF8F7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12968EA-813F-4ED0-A806-C1AEEFE218FB}"/>
              </a:ext>
            </a:extLst>
          </p:cNvPr>
          <p:cNvSpPr>
            <a:spLocks noGrp="1"/>
          </p:cNvSpPr>
          <p:nvPr/>
        </p:nvSpPr>
        <p:spPr>
          <a:xfrm>
            <a:off x="495300" y="32766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F4C95D"/>
                </a:solidFill>
                <a:latin typeface="Meiryo"/>
                <a:ea typeface="Meiryo"/>
                <a:cs typeface="Meiryo"/>
              </a:defRPr>
            </a:pPr>
            <a:r>
              <a:rPr sz="1350" b="1" dirty="0" err="1">
                <a:solidFill>
                  <a:srgbClr val="F4C95D"/>
                </a:solidFill>
                <a:latin typeface="Meiryo"/>
                <a:ea typeface="Meiryo"/>
                <a:cs typeface="Meiryo"/>
              </a:rPr>
              <a:t>制作を通して得たこと</a:t>
            </a:r>
            <a:endParaRPr sz="1350" b="1" dirty="0">
              <a:solidFill>
                <a:srgbClr val="F4C95D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6022D9A-F28C-470A-9999-7F76BBA134DE}"/>
              </a:ext>
            </a:extLst>
          </p:cNvPr>
          <p:cNvSpPr>
            <a:spLocks noGrp="1"/>
          </p:cNvSpPr>
          <p:nvPr/>
        </p:nvSpPr>
        <p:spPr>
          <a:xfrm>
            <a:off x="495300" y="3733800"/>
            <a:ext cx="4953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4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・</a:t>
            </a:r>
            <a:r>
              <a:rPr sz="1425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複数システムをつなぐ状態設計</a:t>
            </a:r>
            <a:endParaRPr sz="1425" b="0" dirty="0">
              <a:solidFill>
                <a:srgbClr val="A8C9CD"/>
              </a:solidFill>
              <a:latin typeface="Meiryo"/>
              <a:ea typeface="Meiryo"/>
              <a:cs typeface="Meiryo"/>
            </a:endParaRPr>
          </a:p>
          <a:p>
            <a:pPr algn="l">
              <a:defRPr sz="14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4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・</a:t>
            </a:r>
            <a:r>
              <a:rPr sz="1425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見た目と判定のズレを追うデバッグ</a:t>
            </a:r>
            <a:endParaRPr sz="1425" b="0" dirty="0">
              <a:solidFill>
                <a:srgbClr val="A8C9CD"/>
              </a:solidFill>
              <a:latin typeface="Meiryo"/>
              <a:ea typeface="Meiryo"/>
              <a:cs typeface="Meiryo"/>
            </a:endParaRPr>
          </a:p>
          <a:p>
            <a:pPr algn="l">
              <a:defRPr sz="14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4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・</a:t>
            </a:r>
            <a:r>
              <a:rPr sz="1425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プレイヤー視点でのUI改善</a:t>
            </a:r>
            <a:endParaRPr sz="1425" b="0" dirty="0">
              <a:solidFill>
                <a:srgbClr val="A8C9CD"/>
              </a:solidFill>
              <a:latin typeface="Meiryo"/>
              <a:ea typeface="Meiryo"/>
              <a:cs typeface="Meiryo"/>
            </a:endParaRPr>
          </a:p>
          <a:p>
            <a:pPr algn="l">
              <a:defRPr sz="1425" b="0">
                <a:solidFill>
                  <a:srgbClr val="A8C9CD"/>
                </a:solidFill>
                <a:latin typeface="Meiryo"/>
                <a:ea typeface="Meiryo"/>
                <a:cs typeface="Meiryo"/>
              </a:defRPr>
            </a:pPr>
            <a:r>
              <a:rPr sz="1425" b="0" dirty="0">
                <a:solidFill>
                  <a:srgbClr val="A8C9CD"/>
                </a:solidFill>
                <a:latin typeface="Meiryo"/>
                <a:ea typeface="Meiryo"/>
                <a:cs typeface="Meiryo"/>
              </a:rPr>
              <a:t>・</a:t>
            </a:r>
            <a:r>
              <a:rPr sz="1425" b="0" dirty="0" err="1">
                <a:solidFill>
                  <a:srgbClr val="A8C9CD"/>
                </a:solidFill>
                <a:latin typeface="Meiryo"/>
                <a:ea typeface="Meiryo"/>
                <a:cs typeface="Meiryo"/>
              </a:rPr>
              <a:t>PVまで含めた作品の見せ方</a:t>
            </a:r>
            <a:endParaRPr sz="1425" b="0" dirty="0">
              <a:solidFill>
                <a:srgbClr val="A8C9CD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D228870-2C1D-42CB-BCC5-7E2E7808E08E}"/>
              </a:ext>
            </a:extLst>
          </p:cNvPr>
          <p:cNvSpPr>
            <a:spLocks noGrp="1"/>
          </p:cNvSpPr>
          <p:nvPr/>
        </p:nvSpPr>
        <p:spPr>
          <a:xfrm>
            <a:off x="495300" y="5505450"/>
            <a:ext cx="4914900" cy="647700"/>
          </a:xfrm>
          <a:prstGeom prst="roundRect">
            <a:avLst>
              <a:gd name="adj" fmla="val 17647"/>
            </a:avLst>
          </a:prstGeom>
          <a:solidFill>
            <a:srgbClr val="173D49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E8BBC6E-4FE1-4A81-A97F-DDE49FCDC03E}"/>
              </a:ext>
            </a:extLst>
          </p:cNvPr>
          <p:cNvSpPr>
            <a:spLocks noGrp="1"/>
          </p:cNvSpPr>
          <p:nvPr/>
        </p:nvSpPr>
        <p:spPr>
          <a:xfrm>
            <a:off x="704850" y="5638800"/>
            <a:ext cx="449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350" b="1">
                <a:solidFill>
                  <a:srgbClr val="EAF8F7"/>
                </a:solidFill>
                <a:latin typeface="Meiryo"/>
                <a:ea typeface="Meiryo"/>
                <a:cs typeface="Meiryo"/>
              </a:defRPr>
            </a:pPr>
            <a:r>
              <a:rPr lang="ja-JP" altLang="en-US" sz="1350" b="1" dirty="0">
                <a:solidFill>
                  <a:srgbClr val="EAF8F7"/>
                </a:solidFill>
                <a:latin typeface="Meiryo"/>
                <a:ea typeface="Meiryo"/>
                <a:cs typeface="Meiryo"/>
              </a:rPr>
              <a:t>プレイ動画</a:t>
            </a:r>
            <a:r>
              <a:rPr lang="en-US" altLang="ja-JP" sz="1350" b="1" dirty="0">
                <a:solidFill>
                  <a:srgbClr val="EAF8F7"/>
                </a:solidFill>
                <a:latin typeface="Meiryo"/>
                <a:ea typeface="Meiryo"/>
                <a:cs typeface="Meiryo"/>
              </a:rPr>
              <a:t>URL : </a:t>
            </a:r>
            <a:r>
              <a:rPr lang="en-US" sz="1350" b="1" dirty="0">
                <a:solidFill>
                  <a:srgbClr val="EAF8F7"/>
                </a:solidFill>
                <a:latin typeface="Meiryo"/>
                <a:ea typeface="Meiryo"/>
                <a:cs typeface="Meiryo"/>
              </a:rPr>
              <a:t>https://youtu.be/L7fSpNBv0X0</a:t>
            </a:r>
            <a:endParaRPr sz="1350" b="1" dirty="0">
              <a:solidFill>
                <a:srgbClr val="EAF8F7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53DF3C3-6C0C-4F94-9D6A-08623902D609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1">
                <a:solidFill>
                  <a:srgbClr val="55D6C5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55D6C5"/>
                </a:solidFill>
                <a:latin typeface="Meiryo"/>
                <a:ea typeface="Meiryo"/>
                <a:cs typeface="Meiryo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99551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460</Words>
  <Application>Microsoft Office PowerPoint</Application>
  <DocSecurity>0</DocSecurity>
  <PresentationFormat>ワイド画面</PresentationFormat>
  <Paragraphs>135</Paragraphs>
  <Slides>9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HG創英角ﾎﾟｯﾌﾟ体</vt:lpstr>
      <vt:lpstr>Meiryo</vt:lpstr>
      <vt:lpstr>Calibri</vt:lpstr>
      <vt:lpstr>ChatGPT</vt:lpstr>
      <vt:lpstr>名前　立原零央  学校　水戸情報ITクリエイター専門学校  趣味　絵           サッカー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立原　零央</cp:lastModifiedBy>
  <cp:revision>3</cp:revision>
  <dcterms:created xsi:type="dcterms:W3CDTF">2026-08-08T01:57:35Z</dcterms:created>
  <dcterms:modified xsi:type="dcterms:W3CDTF">2026-08-08T12:17:53Z</dcterms:modified>
</cp:coreProperties>
</file>